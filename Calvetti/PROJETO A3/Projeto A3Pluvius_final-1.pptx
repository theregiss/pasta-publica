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7559675" cy="10691813"/>
  <p:embeddedFontLst>
    <p:embeddedFont>
      <p:font typeface="Codec Pro"/>
      <p:regular r:id="rId1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font" Target="fonts/font1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2AD139-5D3B-4A7B-9BFE-4EB6360A50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13D4F7-DBE7-4C70-9DD3-2FCC8A2D7C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AEB98E-69B9-4E28-9C81-4B331677E6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D21B1C-2466-4DA2-AF87-10882323B2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67F37D-D99F-470A-A879-704CCC601E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03E329-22E6-4F26-8EC6-7603F11A94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CDD9DF-9DDC-4389-9F2D-8FF086CCF3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760" cy="171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760" cy="596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289FAD-DD41-424F-9BFA-42E9C86F49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1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5E2557-D977-4799-AF9B-0664054C10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B749007-098F-4CFD-9B3C-9082B3C440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10A627-D0AB-472F-9E85-B75795D565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.pn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666720" y="619200"/>
            <a:ext cx="16953120" cy="8952120"/>
            <a:chOff x="666720" y="619200"/>
            <a:chExt cx="16953120" cy="8952120"/>
          </a:xfrm>
        </p:grpSpPr>
        <p:sp>
          <p:nvSpPr>
            <p:cNvPr id="62" name="Freeform 3"/>
            <p:cNvSpPr/>
            <p:nvPr/>
          </p:nvSpPr>
          <p:spPr>
            <a:xfrm>
              <a:off x="704160" y="65664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Freeform 4"/>
            <p:cNvSpPr/>
            <p:nvPr/>
          </p:nvSpPr>
          <p:spPr>
            <a:xfrm>
              <a:off x="666720" y="61920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" name="Group 5"/>
          <p:cNvGrpSpPr/>
          <p:nvPr/>
        </p:nvGrpSpPr>
        <p:grpSpPr>
          <a:xfrm>
            <a:off x="10095480" y="1171440"/>
            <a:ext cx="6897240" cy="7847280"/>
            <a:chOff x="10095480" y="1171440"/>
            <a:chExt cx="6897240" cy="7847280"/>
          </a:xfrm>
        </p:grpSpPr>
        <p:sp>
          <p:nvSpPr>
            <p:cNvPr id="65" name="Freeform 6"/>
            <p:cNvSpPr/>
            <p:nvPr/>
          </p:nvSpPr>
          <p:spPr>
            <a:xfrm>
              <a:off x="10095480" y="1171440"/>
              <a:ext cx="6897240" cy="7847280"/>
            </a:xfrm>
            <a:custGeom>
              <a:avLst/>
              <a:gdLst>
                <a:gd name="textAreaLeft" fmla="*/ 0 w 6897240"/>
                <a:gd name="textAreaRight" fmla="*/ 6898680 w 6897240"/>
                <a:gd name="textAreaTop" fmla="*/ 0 h 7847280"/>
                <a:gd name="textAreaBottom" fmla="*/ 7848720 h 7847280"/>
              </a:gdLst>
              <a:ahLst/>
              <a:cxnLst/>
              <a:rect l="textAreaLeft" t="textAreaTop" r="textAreaRight" b="textAreaBottom"/>
              <a:pathLst>
                <a:path w="1078972" h="1227593">
                  <a:moveTo>
                    <a:pt x="56112" y="0"/>
                  </a:moveTo>
                  <a:lnTo>
                    <a:pt x="1022860" y="0"/>
                  </a:lnTo>
                  <a:cubicBezTo>
                    <a:pt x="1053850" y="0"/>
                    <a:pt x="1078972" y="25122"/>
                    <a:pt x="1078972" y="56112"/>
                  </a:cubicBezTo>
                  <a:lnTo>
                    <a:pt x="1078972" y="1171481"/>
                  </a:lnTo>
                  <a:cubicBezTo>
                    <a:pt x="1078972" y="1202471"/>
                    <a:pt x="1053850" y="1227593"/>
                    <a:pt x="1022860" y="1227593"/>
                  </a:cubicBezTo>
                  <a:lnTo>
                    <a:pt x="56112" y="1227593"/>
                  </a:lnTo>
                  <a:cubicBezTo>
                    <a:pt x="25122" y="1227593"/>
                    <a:pt x="0" y="1202471"/>
                    <a:pt x="0" y="1171481"/>
                  </a:cubicBezTo>
                  <a:lnTo>
                    <a:pt x="0" y="56112"/>
                  </a:lnTo>
                  <a:cubicBezTo>
                    <a:pt x="0" y="25122"/>
                    <a:pt x="25122" y="0"/>
                    <a:pt x="56112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38100" cap="rnd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TextBox 7"/>
          <p:cNvSpPr/>
          <p:nvPr/>
        </p:nvSpPr>
        <p:spPr>
          <a:xfrm>
            <a:off x="1800360" y="3233880"/>
            <a:ext cx="749484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9000"/>
              </a:lnSpc>
              <a:tabLst>
                <a:tab pos="0" algn="l"/>
              </a:tabLst>
            </a:pPr>
            <a:r>
              <a:rPr lang="en-US" sz="7500" b="1" u="none" strike="noStrike" spc="-187">
                <a:solidFill>
                  <a:srgbClr val="C8E6C9"/>
                </a:solidFill>
                <a:effectLst/>
                <a:uFillTx/>
                <a:latin typeface="Gatwick Ultra-Bold"/>
                <a:ea typeface="Gatwick Ultra-Bold"/>
              </a:rPr>
              <a:t>Projeto Pluvius</a:t>
            </a:r>
            <a:endParaRPr lang="pt-BR" sz="7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1800360" y="1504800"/>
            <a:ext cx="74948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498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C8E6C9"/>
                </a:solidFill>
                <a:effectLst/>
                <a:uFillTx/>
                <a:latin typeface="Codec Pro Ultra-Bold"/>
                <a:ea typeface="Codec Pro Ultra-Bold"/>
              </a:rPr>
              <a:t>PROJETO DE CIDADE INTELIGENTE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1800360" y="8457480"/>
            <a:ext cx="74948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498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C8E6C9"/>
                </a:solidFill>
                <a:effectLst/>
                <a:uFillTx/>
                <a:latin typeface="Codec Pro Ultra-Bold"/>
                <a:ea typeface="Codec Pro Ultra-Bold"/>
              </a:rPr>
              <a:t>Sensor IoT para Grande São Paulo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1440000" y="6480000"/>
            <a:ext cx="8795880" cy="159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121"/>
              </a:lnSpc>
            </a:pPr>
            <a:r>
              <a:rPr lang="en-US" sz="2400" b="0" u="none" strike="noStrik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Rodolfo Regis de Souza — RA: 825113514 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121"/>
              </a:lnSpc>
            </a:pPr>
            <a:r>
              <a:rPr lang="en-US" sz="2400" b="0" u="none" strike="noStrik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Gabriel Souza Santos — RA: 825113168 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121"/>
              </a:lnSpc>
            </a:pPr>
            <a:r>
              <a:rPr lang="en-US" sz="2400" b="0" u="none" strike="noStrik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Sergio Rycbczak Junior — RA: 825154823 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121"/>
              </a:lnSpc>
            </a:pPr>
            <a:r>
              <a:rPr lang="en-US" sz="2400" b="0" u="none" strike="noStrik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Pietro Oliveira Silva — RA: 825113483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666720" y="9553680"/>
            <a:ext cx="16953120" cy="42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121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2"/>
          <p:cNvGrpSpPr/>
          <p:nvPr/>
        </p:nvGrpSpPr>
        <p:grpSpPr>
          <a:xfrm>
            <a:off x="766440" y="666720"/>
            <a:ext cx="16953120" cy="8952120"/>
            <a:chOff x="766440" y="666720"/>
            <a:chExt cx="16953120" cy="8952120"/>
          </a:xfrm>
        </p:grpSpPr>
        <p:sp>
          <p:nvSpPr>
            <p:cNvPr id="72" name="Freeform 3"/>
            <p:cNvSpPr/>
            <p:nvPr/>
          </p:nvSpPr>
          <p:spPr>
            <a:xfrm>
              <a:off x="80424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Freeform 4"/>
            <p:cNvSpPr/>
            <p:nvPr/>
          </p:nvSpPr>
          <p:spPr>
            <a:xfrm>
              <a:off x="76644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4" name="TextBox 5"/>
          <p:cNvSpPr/>
          <p:nvPr/>
        </p:nvSpPr>
        <p:spPr>
          <a:xfrm>
            <a:off x="666720" y="4676760"/>
            <a:ext cx="6768720" cy="87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480"/>
              </a:lnSpc>
              <a:tabLst>
                <a:tab pos="0" algn="l"/>
              </a:tabLst>
            </a:pPr>
            <a:r>
              <a:rPr lang="en-US" sz="5400" b="1" u="none" strike="noStrike" spc="-136">
                <a:solidFill>
                  <a:srgbClr val="00796B"/>
                </a:solidFill>
                <a:effectLst/>
                <a:uFillTx/>
                <a:latin typeface="Gatwick Ultra-Bold"/>
                <a:ea typeface="Gatwick Ultra-Bold"/>
              </a:rPr>
              <a:t>INTRODUÇÃO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5" name="Group 6"/>
          <p:cNvGrpSpPr/>
          <p:nvPr/>
        </p:nvGrpSpPr>
        <p:grpSpPr>
          <a:xfrm>
            <a:off x="7436880" y="1308960"/>
            <a:ext cx="9049680" cy="7414560"/>
            <a:chOff x="7436880" y="1308960"/>
            <a:chExt cx="9049680" cy="7414560"/>
          </a:xfrm>
        </p:grpSpPr>
        <p:sp>
          <p:nvSpPr>
            <p:cNvPr id="76" name="Freeform 7"/>
            <p:cNvSpPr/>
            <p:nvPr/>
          </p:nvSpPr>
          <p:spPr>
            <a:xfrm>
              <a:off x="7436880" y="1562040"/>
              <a:ext cx="9049680" cy="7161480"/>
            </a:xfrm>
            <a:custGeom>
              <a:avLst/>
              <a:gdLst>
                <a:gd name="textAreaLeft" fmla="*/ 0 w 9049680"/>
                <a:gd name="textAreaRight" fmla="*/ 9051120 w 9049680"/>
                <a:gd name="textAreaTop" fmla="*/ 0 h 7161480"/>
                <a:gd name="textAreaBottom" fmla="*/ 7162920 h 7161480"/>
              </a:gdLst>
              <a:ahLst/>
              <a:cxnLst/>
              <a:rect l="textAreaLeft" t="textAreaTop" r="textAreaRight" b="textAreaBottom"/>
              <a:pathLst>
                <a:path w="2383806" h="1886499">
                  <a:moveTo>
                    <a:pt x="42768" y="0"/>
                  </a:moveTo>
                  <a:lnTo>
                    <a:pt x="2341038" y="0"/>
                  </a:lnTo>
                  <a:cubicBezTo>
                    <a:pt x="2364658" y="0"/>
                    <a:pt x="2383806" y="19148"/>
                    <a:pt x="2383806" y="42768"/>
                  </a:cubicBezTo>
                  <a:lnTo>
                    <a:pt x="2383806" y="1843730"/>
                  </a:lnTo>
                  <a:cubicBezTo>
                    <a:pt x="2383806" y="1867351"/>
                    <a:pt x="2364658" y="1886499"/>
                    <a:pt x="2341038" y="1886499"/>
                  </a:cubicBezTo>
                  <a:lnTo>
                    <a:pt x="42768" y="1886499"/>
                  </a:lnTo>
                  <a:cubicBezTo>
                    <a:pt x="19148" y="1886499"/>
                    <a:pt x="0" y="1867351"/>
                    <a:pt x="0" y="1843730"/>
                  </a:cubicBezTo>
                  <a:lnTo>
                    <a:pt x="0" y="42768"/>
                  </a:lnTo>
                  <a:cubicBezTo>
                    <a:pt x="0" y="19148"/>
                    <a:pt x="19148" y="0"/>
                    <a:pt x="42768" y="0"/>
                  </a:cubicBezTo>
                  <a:close/>
                </a:path>
              </a:pathLst>
            </a:custGeom>
            <a:noFill/>
            <a:ln w="38100" cap="rnd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8"/>
            <p:cNvSpPr/>
            <p:nvPr/>
          </p:nvSpPr>
          <p:spPr>
            <a:xfrm>
              <a:off x="7436880" y="1308960"/>
              <a:ext cx="9049680" cy="741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7080" tIns="127080" rIns="127080" bIns="127080" anchor="ctr">
              <a:no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8" name="TextBox 9"/>
          <p:cNvSpPr/>
          <p:nvPr/>
        </p:nvSpPr>
        <p:spPr>
          <a:xfrm>
            <a:off x="7659720" y="2204640"/>
            <a:ext cx="8289000" cy="617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86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Com o crescimento populacional e a urbanização acelerada das grandes cidades aumentam os desafios relacionados à infraestrutura e à segurança civil. 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No contexto de Cidades Inteligentes, tecnologias digitais e IoT permitem a coleta de dados em tempo real, possibilitando uma gestão urbana mais eficiente. 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Mesmo com avanços tecnológicos, São Paulo enfrenta graves problemas de alagamentos todos os anos. No Brasil, os desastres climáticos cresceram 460% em comparação aos anos 1990, e na capital paulista o número de ocorrências aumenta cerca de 50% a cada ano. 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Apenas em 2013, os prejuízos causados por enchentes ultrapassaram R$ 762 milhões. O monitoramento atual não oferece a precisão e rapidez necessárias para decisões eficazes. Por isso, o Projeto Pluvius (AlertaSP) propõe uma solução baseada em sensores IoT para monitorar riscos de inundação e emitir alertas em tempo real.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2"/>
          <p:cNvGrpSpPr/>
          <p:nvPr/>
        </p:nvGrpSpPr>
        <p:grpSpPr>
          <a:xfrm>
            <a:off x="666720" y="666720"/>
            <a:ext cx="16953120" cy="8952120"/>
            <a:chOff x="666720" y="666720"/>
            <a:chExt cx="16953120" cy="8952120"/>
          </a:xfrm>
        </p:grpSpPr>
        <p:sp>
          <p:nvSpPr>
            <p:cNvPr id="80" name="Freeform 3"/>
            <p:cNvSpPr/>
            <p:nvPr/>
          </p:nvSpPr>
          <p:spPr>
            <a:xfrm>
              <a:off x="70416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Freeform 4"/>
            <p:cNvSpPr/>
            <p:nvPr/>
          </p:nvSpPr>
          <p:spPr>
            <a:xfrm>
              <a:off x="66672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TextBox 5"/>
          <p:cNvSpPr/>
          <p:nvPr/>
        </p:nvSpPr>
        <p:spPr>
          <a:xfrm>
            <a:off x="666720" y="4676760"/>
            <a:ext cx="6768720" cy="87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480"/>
              </a:lnSpc>
              <a:tabLst>
                <a:tab pos="0" algn="l"/>
              </a:tabLst>
            </a:pPr>
            <a:r>
              <a:rPr lang="en-US" sz="5400" b="1" u="none" strike="noStrike" spc="-136">
                <a:solidFill>
                  <a:srgbClr val="00796B"/>
                </a:solidFill>
                <a:effectLst/>
                <a:uFillTx/>
                <a:latin typeface="Gatwick Ultra-Bold"/>
                <a:ea typeface="Gatwick Ultra-Bold"/>
              </a:rPr>
              <a:t>Metodologia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3" name="Group 6"/>
          <p:cNvGrpSpPr/>
          <p:nvPr/>
        </p:nvGrpSpPr>
        <p:grpSpPr>
          <a:xfrm>
            <a:off x="7020000" y="900000"/>
            <a:ext cx="9466560" cy="8279280"/>
            <a:chOff x="7020000" y="900000"/>
            <a:chExt cx="9466560" cy="8279280"/>
          </a:xfrm>
        </p:grpSpPr>
        <p:sp>
          <p:nvSpPr>
            <p:cNvPr id="84" name="Freeform 7"/>
            <p:cNvSpPr/>
            <p:nvPr/>
          </p:nvSpPr>
          <p:spPr>
            <a:xfrm>
              <a:off x="7020000" y="1182600"/>
              <a:ext cx="9466560" cy="7996680"/>
            </a:xfrm>
            <a:custGeom>
              <a:avLst/>
              <a:gdLst>
                <a:gd name="textAreaLeft" fmla="*/ 0 w 9466560"/>
                <a:gd name="textAreaRight" fmla="*/ 9468000 w 9466560"/>
                <a:gd name="textAreaTop" fmla="*/ 0 h 7996680"/>
                <a:gd name="textAreaBottom" fmla="*/ 7998120 h 7996680"/>
              </a:gdLst>
              <a:ahLst/>
              <a:cxnLst/>
              <a:rect l="textAreaLeft" t="textAreaTop" r="textAreaRight" b="textAreaBottom"/>
              <a:pathLst>
                <a:path w="2383806" h="1886499">
                  <a:moveTo>
                    <a:pt x="42768" y="0"/>
                  </a:moveTo>
                  <a:lnTo>
                    <a:pt x="2341038" y="0"/>
                  </a:lnTo>
                  <a:cubicBezTo>
                    <a:pt x="2364658" y="0"/>
                    <a:pt x="2383806" y="19148"/>
                    <a:pt x="2383806" y="42768"/>
                  </a:cubicBezTo>
                  <a:lnTo>
                    <a:pt x="2383806" y="1843730"/>
                  </a:lnTo>
                  <a:cubicBezTo>
                    <a:pt x="2383806" y="1867351"/>
                    <a:pt x="2364658" y="1886499"/>
                    <a:pt x="2341038" y="1886499"/>
                  </a:cubicBezTo>
                  <a:lnTo>
                    <a:pt x="42768" y="1886499"/>
                  </a:lnTo>
                  <a:cubicBezTo>
                    <a:pt x="19148" y="1886499"/>
                    <a:pt x="0" y="1867351"/>
                    <a:pt x="0" y="1843730"/>
                  </a:cubicBezTo>
                  <a:lnTo>
                    <a:pt x="0" y="42768"/>
                  </a:lnTo>
                  <a:cubicBezTo>
                    <a:pt x="0" y="19148"/>
                    <a:pt x="19148" y="0"/>
                    <a:pt x="42768" y="0"/>
                  </a:cubicBezTo>
                  <a:close/>
                </a:path>
              </a:pathLst>
            </a:custGeom>
            <a:noFill/>
            <a:ln w="38100" cap="rnd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8"/>
            <p:cNvSpPr/>
            <p:nvPr/>
          </p:nvSpPr>
          <p:spPr>
            <a:xfrm>
              <a:off x="7020000" y="900000"/>
              <a:ext cx="9466560" cy="827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7080" tIns="127080" rIns="127080" bIns="127080" anchor="ctr">
              <a:no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86" name="TextBox 9"/>
          <p:cNvSpPr/>
          <p:nvPr/>
        </p:nvSpPr>
        <p:spPr>
          <a:xfrm>
            <a:off x="7380000" y="1620000"/>
            <a:ext cx="8829000" cy="726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86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A metodologia do projeto foi baseada em uma abordagem, dividida em três etapas: 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pos="0" algn="l"/>
              </a:tabLst>
            </a:pP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2860"/>
              </a:lnSpc>
              <a:buClr>
                <a:srgbClr val="666666"/>
              </a:buClr>
              <a:buSzPct val="65000"/>
              <a:buFont typeface="Wingdings" charset="2"/>
              <a:buChar char=""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Pesquisa: 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Levantamento bibliográfico sobre IoT, Cidades Inteligentes e sistemas de monitoramento hidrológico;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Estudos de Singapura, Nova York, Dublin, Copenhagen e cidades europeias.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pos="0" algn="l"/>
              </a:tabLst>
            </a:pP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2860"/>
              </a:lnSpc>
              <a:buClr>
                <a:srgbClr val="666666"/>
              </a:buClr>
              <a:buSzPct val="65000"/>
              <a:buFont typeface="Wingdings" charset="2"/>
              <a:buChar char=""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Análise do cenário de São Paulo: 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Clima;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Geografia;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Custos e infraestrutura;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Necessidades de órgãos como SABESP e Defesa Civil.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pos="0" algn="l"/>
              </a:tabLst>
            </a:pP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2860"/>
              </a:lnSpc>
              <a:buClr>
                <a:srgbClr val="666666"/>
              </a:buClr>
              <a:buSzPct val="65000"/>
              <a:buFont typeface="Wingdings" charset="2"/>
              <a:buChar char=""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Proposição: 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Solução de arquitetura IoT; 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Mecanismos analítico; 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algn="just" defTabSz="914400">
              <a:lnSpc>
                <a:spcPts val="2860"/>
              </a:lnSpc>
              <a:buClr>
                <a:srgbClr val="666666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Banco de Dados em nuvem, com baixo custo, escalabilidade e robustez.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2"/>
          <p:cNvGrpSpPr/>
          <p:nvPr/>
        </p:nvGrpSpPr>
        <p:grpSpPr>
          <a:xfrm>
            <a:off x="666720" y="666720"/>
            <a:ext cx="16953120" cy="8952120"/>
            <a:chOff x="666720" y="666720"/>
            <a:chExt cx="16953120" cy="8952120"/>
          </a:xfrm>
        </p:grpSpPr>
        <p:sp>
          <p:nvSpPr>
            <p:cNvPr id="88" name="Freeform 3"/>
            <p:cNvSpPr/>
            <p:nvPr/>
          </p:nvSpPr>
          <p:spPr>
            <a:xfrm>
              <a:off x="70416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eform 4"/>
            <p:cNvSpPr/>
            <p:nvPr/>
          </p:nvSpPr>
          <p:spPr>
            <a:xfrm>
              <a:off x="66672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0" name="Group 5"/>
          <p:cNvGrpSpPr/>
          <p:nvPr/>
        </p:nvGrpSpPr>
        <p:grpSpPr>
          <a:xfrm>
            <a:off x="1800360" y="3352680"/>
            <a:ext cx="4618080" cy="3229920"/>
            <a:chOff x="1800360" y="3352680"/>
            <a:chExt cx="4618080" cy="3229920"/>
          </a:xfrm>
        </p:grpSpPr>
        <p:sp>
          <p:nvSpPr>
            <p:cNvPr id="91" name="Freeform 6"/>
            <p:cNvSpPr/>
            <p:nvPr/>
          </p:nvSpPr>
          <p:spPr>
            <a:xfrm>
              <a:off x="1800360" y="3352680"/>
              <a:ext cx="4618080" cy="3229920"/>
            </a:xfrm>
            <a:custGeom>
              <a:avLst/>
              <a:gdLst>
                <a:gd name="textAreaLeft" fmla="*/ 0 w 4618080"/>
                <a:gd name="textAreaRight" fmla="*/ 4619520 w 4618080"/>
                <a:gd name="textAreaTop" fmla="*/ 0 h 3229920"/>
                <a:gd name="textAreaBottom" fmla="*/ 3231360 h 3229920"/>
              </a:gdLst>
              <a:ahLst/>
              <a:cxnLst/>
              <a:rect l="textAreaLeft" t="textAreaTop" r="textAreaRight" b="textAreaBottom"/>
              <a:pathLst>
                <a:path w="650279" h="45485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38100" cap="rnd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2" name="Group 7"/>
          <p:cNvGrpSpPr/>
          <p:nvPr/>
        </p:nvGrpSpPr>
        <p:grpSpPr>
          <a:xfrm>
            <a:off x="6834240" y="3352680"/>
            <a:ext cx="4618080" cy="3229920"/>
            <a:chOff x="6834240" y="3352680"/>
            <a:chExt cx="4618080" cy="3229920"/>
          </a:xfrm>
        </p:grpSpPr>
        <p:sp>
          <p:nvSpPr>
            <p:cNvPr id="93" name="Freeform 8"/>
            <p:cNvSpPr/>
            <p:nvPr/>
          </p:nvSpPr>
          <p:spPr>
            <a:xfrm>
              <a:off x="6834240" y="3352680"/>
              <a:ext cx="4618080" cy="3229920"/>
            </a:xfrm>
            <a:custGeom>
              <a:avLst/>
              <a:gdLst>
                <a:gd name="textAreaLeft" fmla="*/ 0 w 4618080"/>
                <a:gd name="textAreaRight" fmla="*/ 4619520 w 4618080"/>
                <a:gd name="textAreaTop" fmla="*/ 0 h 3229920"/>
                <a:gd name="textAreaBottom" fmla="*/ 3231360 h 3229920"/>
              </a:gdLst>
              <a:ahLst/>
              <a:cxnLst/>
              <a:rect l="textAreaLeft" t="textAreaTop" r="textAreaRight" b="textAreaBottom"/>
              <a:pathLst>
                <a:path w="650279" h="454859">
                  <a:moveTo>
                    <a:pt x="83794" y="0"/>
                  </a:moveTo>
                  <a:lnTo>
                    <a:pt x="566485" y="0"/>
                  </a:lnTo>
                  <a:cubicBezTo>
                    <a:pt x="588709" y="0"/>
                    <a:pt x="610022" y="8828"/>
                    <a:pt x="625737" y="24543"/>
                  </a:cubicBezTo>
                  <a:cubicBezTo>
                    <a:pt x="641451" y="40257"/>
                    <a:pt x="650279" y="61570"/>
                    <a:pt x="650279" y="83794"/>
                  </a:cubicBezTo>
                  <a:lnTo>
                    <a:pt x="650279" y="371065"/>
                  </a:lnTo>
                  <a:cubicBezTo>
                    <a:pt x="650279" y="393288"/>
                    <a:pt x="641451" y="414602"/>
                    <a:pt x="625737" y="430316"/>
                  </a:cubicBezTo>
                  <a:cubicBezTo>
                    <a:pt x="610022" y="446030"/>
                    <a:pt x="588709" y="454859"/>
                    <a:pt x="566485" y="454859"/>
                  </a:cubicBezTo>
                  <a:lnTo>
                    <a:pt x="83794" y="454859"/>
                  </a:lnTo>
                  <a:cubicBezTo>
                    <a:pt x="61570" y="454859"/>
                    <a:pt x="40257" y="446030"/>
                    <a:pt x="24543" y="430316"/>
                  </a:cubicBezTo>
                  <a:cubicBezTo>
                    <a:pt x="8828" y="414602"/>
                    <a:pt x="0" y="393288"/>
                    <a:pt x="0" y="371065"/>
                  </a:cubicBezTo>
                  <a:lnTo>
                    <a:pt x="0" y="83794"/>
                  </a:lnTo>
                  <a:cubicBezTo>
                    <a:pt x="0" y="61570"/>
                    <a:pt x="8828" y="40257"/>
                    <a:pt x="24543" y="24543"/>
                  </a:cubicBezTo>
                  <a:cubicBezTo>
                    <a:pt x="40257" y="8828"/>
                    <a:pt x="61570" y="0"/>
                    <a:pt x="83794" y="0"/>
                  </a:cubicBez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38100" cap="rnd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4" name="Group 9"/>
          <p:cNvGrpSpPr/>
          <p:nvPr/>
        </p:nvGrpSpPr>
        <p:grpSpPr>
          <a:xfrm>
            <a:off x="11865600" y="3352680"/>
            <a:ext cx="4621680" cy="3229920"/>
            <a:chOff x="11865600" y="3352680"/>
            <a:chExt cx="4621680" cy="3229920"/>
          </a:xfrm>
        </p:grpSpPr>
        <p:sp>
          <p:nvSpPr>
            <p:cNvPr id="95" name="Freeform 10"/>
            <p:cNvSpPr/>
            <p:nvPr/>
          </p:nvSpPr>
          <p:spPr>
            <a:xfrm>
              <a:off x="11865600" y="3352680"/>
              <a:ext cx="4621680" cy="3229920"/>
            </a:xfrm>
            <a:custGeom>
              <a:avLst/>
              <a:gdLst>
                <a:gd name="textAreaLeft" fmla="*/ 0 w 4621680"/>
                <a:gd name="textAreaRight" fmla="*/ 4623120 w 4621680"/>
                <a:gd name="textAreaTop" fmla="*/ 0 h 3229920"/>
                <a:gd name="textAreaBottom" fmla="*/ 3231360 h 3229920"/>
              </a:gdLst>
              <a:ahLst/>
              <a:cxnLst/>
              <a:rect l="textAreaLeft" t="textAreaTop" r="textAreaRight" b="textAreaBottom"/>
              <a:pathLst>
                <a:path w="650763" h="454859">
                  <a:moveTo>
                    <a:pt x="83732" y="0"/>
                  </a:moveTo>
                  <a:lnTo>
                    <a:pt x="567032" y="0"/>
                  </a:lnTo>
                  <a:cubicBezTo>
                    <a:pt x="589239" y="0"/>
                    <a:pt x="610536" y="8822"/>
                    <a:pt x="626239" y="24524"/>
                  </a:cubicBezTo>
                  <a:cubicBezTo>
                    <a:pt x="641941" y="40227"/>
                    <a:pt x="650763" y="61525"/>
                    <a:pt x="650763" y="83732"/>
                  </a:cubicBezTo>
                  <a:lnTo>
                    <a:pt x="650763" y="371127"/>
                  </a:lnTo>
                  <a:cubicBezTo>
                    <a:pt x="650763" y="393334"/>
                    <a:pt x="641941" y="414631"/>
                    <a:pt x="626239" y="430334"/>
                  </a:cubicBezTo>
                  <a:cubicBezTo>
                    <a:pt x="610536" y="446037"/>
                    <a:pt x="589239" y="454859"/>
                    <a:pt x="567032" y="454859"/>
                  </a:cubicBezTo>
                  <a:lnTo>
                    <a:pt x="83732" y="454859"/>
                  </a:lnTo>
                  <a:cubicBezTo>
                    <a:pt x="61525" y="454859"/>
                    <a:pt x="40227" y="446037"/>
                    <a:pt x="24524" y="430334"/>
                  </a:cubicBezTo>
                  <a:cubicBezTo>
                    <a:pt x="8822" y="414631"/>
                    <a:pt x="0" y="393334"/>
                    <a:pt x="0" y="371127"/>
                  </a:cubicBezTo>
                  <a:lnTo>
                    <a:pt x="0" y="83732"/>
                  </a:lnTo>
                  <a:cubicBezTo>
                    <a:pt x="0" y="61525"/>
                    <a:pt x="8822" y="40227"/>
                    <a:pt x="24524" y="24524"/>
                  </a:cubicBezTo>
                  <a:cubicBezTo>
                    <a:pt x="40227" y="8822"/>
                    <a:pt x="61525" y="0"/>
                    <a:pt x="83732" y="0"/>
                  </a:cubicBez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38100" cap="rnd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6" name="Group 11"/>
          <p:cNvGrpSpPr/>
          <p:nvPr/>
        </p:nvGrpSpPr>
        <p:grpSpPr>
          <a:xfrm>
            <a:off x="1800360" y="6884280"/>
            <a:ext cx="4618080" cy="1244880"/>
            <a:chOff x="1800360" y="6884280"/>
            <a:chExt cx="4618080" cy="1244880"/>
          </a:xfrm>
        </p:grpSpPr>
        <p:sp>
          <p:nvSpPr>
            <p:cNvPr id="97" name="TextBox 12"/>
            <p:cNvSpPr/>
            <p:nvPr/>
          </p:nvSpPr>
          <p:spPr>
            <a:xfrm>
              <a:off x="1800360" y="7329960"/>
              <a:ext cx="4618080" cy="79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Dados confiáveis para monitoramento eficiente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TextBox 13"/>
            <p:cNvSpPr/>
            <p:nvPr/>
          </p:nvSpPr>
          <p:spPr>
            <a:xfrm>
              <a:off x="1800360" y="6884280"/>
              <a:ext cx="4618080" cy="41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r>
                <a:rPr lang="en-US" sz="2400" b="1" u="none" strike="noStrike">
                  <a:solidFill>
                    <a:srgbClr val="C8E6C9"/>
                  </a:solidFill>
                  <a:effectLst/>
                  <a:uFillTx/>
                  <a:latin typeface="Codec Pro Ultra-Bold"/>
                  <a:ea typeface="Codec Pro Ultra-Bold"/>
                </a:rPr>
                <a:t>Precisão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9" name="Group 14"/>
          <p:cNvGrpSpPr/>
          <p:nvPr/>
        </p:nvGrpSpPr>
        <p:grpSpPr>
          <a:xfrm>
            <a:off x="6834240" y="6884280"/>
            <a:ext cx="4477680" cy="1244880"/>
            <a:chOff x="6834240" y="6884280"/>
            <a:chExt cx="4477680" cy="1244880"/>
          </a:xfrm>
        </p:grpSpPr>
        <p:sp>
          <p:nvSpPr>
            <p:cNvPr id="100" name="TextBox 15"/>
            <p:cNvSpPr/>
            <p:nvPr/>
          </p:nvSpPr>
          <p:spPr>
            <a:xfrm>
              <a:off x="6834240" y="7329960"/>
              <a:ext cx="4477680" cy="79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Transmissão sem fio em tempo real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TextBox 16"/>
            <p:cNvSpPr/>
            <p:nvPr/>
          </p:nvSpPr>
          <p:spPr>
            <a:xfrm>
              <a:off x="6834240" y="6884280"/>
              <a:ext cx="4477680" cy="41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r>
                <a:rPr lang="en-US" sz="2400" b="1" u="none" strike="noStrike">
                  <a:solidFill>
                    <a:srgbClr val="C8E6C9"/>
                  </a:solidFill>
                  <a:effectLst/>
                  <a:uFillTx/>
                  <a:latin typeface="Codec Pro Ultra-Bold"/>
                  <a:ea typeface="Codec Pro Ultra-Bold"/>
                </a:rPr>
                <a:t>Conectividade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" name="Group 17"/>
          <p:cNvGrpSpPr/>
          <p:nvPr/>
        </p:nvGrpSpPr>
        <p:grpSpPr>
          <a:xfrm>
            <a:off x="11868120" y="6884280"/>
            <a:ext cx="4618800" cy="1244880"/>
            <a:chOff x="11868120" y="6884280"/>
            <a:chExt cx="4618800" cy="1244880"/>
          </a:xfrm>
        </p:grpSpPr>
        <p:sp>
          <p:nvSpPr>
            <p:cNvPr id="103" name="TextBox 18"/>
            <p:cNvSpPr/>
            <p:nvPr/>
          </p:nvSpPr>
          <p:spPr>
            <a:xfrm>
              <a:off x="11868120" y="7329960"/>
              <a:ext cx="4618800" cy="799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Resistência a condições climáticas adversas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TextBox 19"/>
            <p:cNvSpPr/>
            <p:nvPr/>
          </p:nvSpPr>
          <p:spPr>
            <a:xfrm>
              <a:off x="11868120" y="6884280"/>
              <a:ext cx="4618800" cy="41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r>
                <a:rPr lang="en-US" sz="2400" b="1" u="none" strike="noStrike">
                  <a:solidFill>
                    <a:srgbClr val="C8E6C9"/>
                  </a:solidFill>
                  <a:effectLst/>
                  <a:uFillTx/>
                  <a:latin typeface="Codec Pro Ultra-Bold"/>
                  <a:ea typeface="Codec Pro Ultra-Bold"/>
                </a:rPr>
                <a:t>Durabilidade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5" name="TextBox 20"/>
          <p:cNvSpPr/>
          <p:nvPr/>
        </p:nvSpPr>
        <p:spPr>
          <a:xfrm>
            <a:off x="2104920" y="1504800"/>
            <a:ext cx="14076360" cy="87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480"/>
              </a:lnSpc>
              <a:tabLst>
                <a:tab pos="0" algn="l"/>
              </a:tabLst>
            </a:pPr>
            <a:r>
              <a:rPr lang="en-US" sz="5400" b="1" u="none" strike="noStrike" spc="-136">
                <a:solidFill>
                  <a:srgbClr val="C8E6C9"/>
                </a:solidFill>
                <a:effectLst/>
                <a:uFillTx/>
                <a:latin typeface="Gatwick Ultra-Bold"/>
                <a:ea typeface="Gatwick Ultra-Bold"/>
              </a:rPr>
              <a:t>Sensores Pluviométricos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2"/>
          <p:cNvGrpSpPr/>
          <p:nvPr/>
        </p:nvGrpSpPr>
        <p:grpSpPr>
          <a:xfrm>
            <a:off x="666720" y="666720"/>
            <a:ext cx="16953120" cy="8952120"/>
            <a:chOff x="666720" y="666720"/>
            <a:chExt cx="16953120" cy="8952120"/>
          </a:xfrm>
        </p:grpSpPr>
        <p:sp>
          <p:nvSpPr>
            <p:cNvPr id="107" name="Freeform 3"/>
            <p:cNvSpPr/>
            <p:nvPr/>
          </p:nvSpPr>
          <p:spPr>
            <a:xfrm>
              <a:off x="70416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Freeform 4"/>
            <p:cNvSpPr/>
            <p:nvPr/>
          </p:nvSpPr>
          <p:spPr>
            <a:xfrm>
              <a:off x="66672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Group 5"/>
          <p:cNvGrpSpPr/>
          <p:nvPr/>
        </p:nvGrpSpPr>
        <p:grpSpPr>
          <a:xfrm>
            <a:off x="1800360" y="3511440"/>
            <a:ext cx="4716000" cy="5212080"/>
            <a:chOff x="1800360" y="3511440"/>
            <a:chExt cx="4716000" cy="5212080"/>
          </a:xfrm>
        </p:grpSpPr>
        <p:sp>
          <p:nvSpPr>
            <p:cNvPr id="110" name="Freeform 6"/>
            <p:cNvSpPr/>
            <p:nvPr/>
          </p:nvSpPr>
          <p:spPr>
            <a:xfrm>
              <a:off x="1800360" y="3764520"/>
              <a:ext cx="4716000" cy="4959000"/>
            </a:xfrm>
            <a:custGeom>
              <a:avLst/>
              <a:gdLst>
                <a:gd name="textAreaLeft" fmla="*/ 0 w 4716000"/>
                <a:gd name="textAreaRight" fmla="*/ 4717440 w 4716000"/>
                <a:gd name="textAreaTop" fmla="*/ 0 h 4959000"/>
                <a:gd name="textAreaBottom" fmla="*/ 4960440 h 4959000"/>
              </a:gdLst>
              <a:ahLst/>
              <a:cxnLst/>
              <a:rect l="textAreaLeft" t="textAreaTop" r="textAreaRight" b="textAreaBottom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noFill/>
            <a:ln w="38100" cap="rnd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TextBox 7"/>
            <p:cNvSpPr/>
            <p:nvPr/>
          </p:nvSpPr>
          <p:spPr>
            <a:xfrm>
              <a:off x="1800360" y="3511440"/>
              <a:ext cx="4716000" cy="521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7080" tIns="127080" rIns="127080" bIns="127080" anchor="ctr">
              <a:no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12" name="Group 8"/>
          <p:cNvGrpSpPr/>
          <p:nvPr/>
        </p:nvGrpSpPr>
        <p:grpSpPr>
          <a:xfrm>
            <a:off x="6785280" y="3511440"/>
            <a:ext cx="4716000" cy="5212080"/>
            <a:chOff x="6785280" y="3511440"/>
            <a:chExt cx="4716000" cy="5212080"/>
          </a:xfrm>
        </p:grpSpPr>
        <p:sp>
          <p:nvSpPr>
            <p:cNvPr id="113" name="Freeform 9"/>
            <p:cNvSpPr/>
            <p:nvPr/>
          </p:nvSpPr>
          <p:spPr>
            <a:xfrm>
              <a:off x="6785280" y="3764520"/>
              <a:ext cx="4716000" cy="4959000"/>
            </a:xfrm>
            <a:custGeom>
              <a:avLst/>
              <a:gdLst>
                <a:gd name="textAreaLeft" fmla="*/ 0 w 4716000"/>
                <a:gd name="textAreaRight" fmla="*/ 4717440 w 4716000"/>
                <a:gd name="textAreaTop" fmla="*/ 0 h 4959000"/>
                <a:gd name="textAreaBottom" fmla="*/ 4960440 h 4959000"/>
              </a:gdLst>
              <a:ahLst/>
              <a:cxnLst/>
              <a:rect l="textAreaLeft" t="textAreaTop" r="textAreaRight" b="textAreaBottom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noFill/>
            <a:ln w="38100" cap="rnd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TextBox 10"/>
            <p:cNvSpPr/>
            <p:nvPr/>
          </p:nvSpPr>
          <p:spPr>
            <a:xfrm>
              <a:off x="6785280" y="3511440"/>
              <a:ext cx="4716000" cy="521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7080" tIns="127080" rIns="127080" bIns="127080" anchor="ctr">
              <a:no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15" name="Group 11"/>
          <p:cNvGrpSpPr/>
          <p:nvPr/>
        </p:nvGrpSpPr>
        <p:grpSpPr>
          <a:xfrm>
            <a:off x="11770200" y="3511440"/>
            <a:ext cx="4716000" cy="5212080"/>
            <a:chOff x="11770200" y="3511440"/>
            <a:chExt cx="4716000" cy="5212080"/>
          </a:xfrm>
        </p:grpSpPr>
        <p:sp>
          <p:nvSpPr>
            <p:cNvPr id="116" name="Freeform 12"/>
            <p:cNvSpPr/>
            <p:nvPr/>
          </p:nvSpPr>
          <p:spPr>
            <a:xfrm>
              <a:off x="11770200" y="3764520"/>
              <a:ext cx="4716000" cy="4959000"/>
            </a:xfrm>
            <a:custGeom>
              <a:avLst/>
              <a:gdLst>
                <a:gd name="textAreaLeft" fmla="*/ 0 w 4716000"/>
                <a:gd name="textAreaRight" fmla="*/ 4717440 w 4716000"/>
                <a:gd name="textAreaTop" fmla="*/ 0 h 4959000"/>
                <a:gd name="textAreaBottom" fmla="*/ 4960440 h 4959000"/>
              </a:gdLst>
              <a:ahLst/>
              <a:cxnLst/>
              <a:rect l="textAreaLeft" t="textAreaTop" r="textAreaRight" b="textAreaBottom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noFill/>
            <a:ln w="38100" cap="rnd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TextBox 13"/>
            <p:cNvSpPr/>
            <p:nvPr/>
          </p:nvSpPr>
          <p:spPr>
            <a:xfrm>
              <a:off x="11770200" y="3511440"/>
              <a:ext cx="4716000" cy="521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7080" tIns="127080" rIns="127080" bIns="127080" anchor="ctr">
              <a:no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18" name="TextBox 14"/>
          <p:cNvSpPr/>
          <p:nvPr/>
        </p:nvSpPr>
        <p:spPr>
          <a:xfrm>
            <a:off x="2104920" y="1504800"/>
            <a:ext cx="14076360" cy="87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480"/>
              </a:lnSpc>
              <a:tabLst>
                <a:tab pos="0" algn="l"/>
              </a:tabLst>
            </a:pPr>
            <a:r>
              <a:rPr lang="en-US" sz="5400" b="1" u="none" strike="noStrike" spc="-136">
                <a:solidFill>
                  <a:srgbClr val="C8E6C9"/>
                </a:solidFill>
                <a:effectLst/>
                <a:uFillTx/>
                <a:latin typeface="Gatwick Ultra-Bold"/>
                <a:ea typeface="Gatwick Ultra-Bold"/>
              </a:rPr>
              <a:t>Solução: Rede de Sensores IoT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9" name="Group 15"/>
          <p:cNvGrpSpPr/>
          <p:nvPr/>
        </p:nvGrpSpPr>
        <p:grpSpPr>
          <a:xfrm>
            <a:off x="2178360" y="4198320"/>
            <a:ext cx="3959640" cy="3206880"/>
            <a:chOff x="2178360" y="4198320"/>
            <a:chExt cx="3959640" cy="3206880"/>
          </a:xfrm>
        </p:grpSpPr>
        <p:sp>
          <p:nvSpPr>
            <p:cNvPr id="120" name="TextBox 16"/>
            <p:cNvSpPr/>
            <p:nvPr/>
          </p:nvSpPr>
          <p:spPr>
            <a:xfrm>
              <a:off x="2178360" y="5043960"/>
              <a:ext cx="3959640" cy="236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A coleta de dados de pluviômetros permite um </a:t>
              </a:r>
              <a:r>
                <a:rPr lang="en-US" sz="2400" b="1" u="none" strike="noStrike">
                  <a:solidFill>
                    <a:srgbClr val="C8E6C9"/>
                  </a:solidFill>
                  <a:effectLst/>
                  <a:uFillTx/>
                  <a:latin typeface="Codec Pro Bold"/>
                  <a:ea typeface="Codec Pro Bold"/>
                </a:rPr>
                <a:t>monitoramento constante</a:t>
              </a:r>
              <a:r>
                <a:rPr lang="en-US" sz="2400" b="0" u="none" strike="noStrik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 das condições de chuva, ajudando a prever eventos climáticos extremos.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17"/>
            <p:cNvSpPr/>
            <p:nvPr/>
          </p:nvSpPr>
          <p:spPr>
            <a:xfrm>
              <a:off x="2178360" y="4198320"/>
              <a:ext cx="3959640" cy="81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r>
                <a:rPr lang="en-US" sz="2400" b="1" u="none" strike="noStrike">
                  <a:solidFill>
                    <a:srgbClr val="C8E6C9"/>
                  </a:solidFill>
                  <a:effectLst/>
                  <a:uFillTx/>
                  <a:latin typeface="Codec Pro Ultra-Bold"/>
                  <a:ea typeface="Codec Pro Ultra-Bold"/>
                </a:rPr>
                <a:t>Monitoramento em Tempo Real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2" name="Group 18"/>
          <p:cNvGrpSpPr/>
          <p:nvPr/>
        </p:nvGrpSpPr>
        <p:grpSpPr>
          <a:xfrm>
            <a:off x="7163640" y="4198320"/>
            <a:ext cx="3959640" cy="2806920"/>
            <a:chOff x="7163640" y="4198320"/>
            <a:chExt cx="3959640" cy="2806920"/>
          </a:xfrm>
        </p:grpSpPr>
        <p:sp>
          <p:nvSpPr>
            <p:cNvPr id="123" name="TextBox 19"/>
            <p:cNvSpPr/>
            <p:nvPr/>
          </p:nvSpPr>
          <p:spPr>
            <a:xfrm>
              <a:off x="7163640" y="4644000"/>
              <a:ext cx="3959640" cy="236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Com técnicas de análise de dados, é possível </a:t>
              </a:r>
              <a:r>
                <a:rPr lang="en-US" sz="2400" b="1" u="none" strike="noStrike">
                  <a:solidFill>
                    <a:srgbClr val="C8E6C9"/>
                  </a:solidFill>
                  <a:effectLst/>
                  <a:uFillTx/>
                  <a:latin typeface="Codec Pro Bold"/>
                  <a:ea typeface="Codec Pro Bold"/>
                </a:rPr>
                <a:t>identificar áreas de risco</a:t>
              </a:r>
              <a:r>
                <a:rPr lang="en-US" sz="2400" b="0" u="none" strike="noStrik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 antes de ocorrerem enchentes, facilitando a atuação preventiva.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TextBox 20"/>
            <p:cNvSpPr/>
            <p:nvPr/>
          </p:nvSpPr>
          <p:spPr>
            <a:xfrm>
              <a:off x="7163640" y="4198320"/>
              <a:ext cx="3959640" cy="41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r>
                <a:rPr lang="en-US" sz="2400" b="1" u="none" strike="noStrike">
                  <a:solidFill>
                    <a:srgbClr val="C8E6C9"/>
                  </a:solidFill>
                  <a:effectLst/>
                  <a:uFillTx/>
                  <a:latin typeface="Codec Pro Ultra-Bold"/>
                  <a:ea typeface="Codec Pro Ultra-Bold"/>
                </a:rPr>
                <a:t>Análise Inteligente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5" name="Group 21"/>
          <p:cNvGrpSpPr/>
          <p:nvPr/>
        </p:nvGrpSpPr>
        <p:grpSpPr>
          <a:xfrm>
            <a:off x="12148560" y="4198320"/>
            <a:ext cx="3959640" cy="3197520"/>
            <a:chOff x="12148560" y="4198320"/>
            <a:chExt cx="3959640" cy="3197520"/>
          </a:xfrm>
        </p:grpSpPr>
        <p:sp>
          <p:nvSpPr>
            <p:cNvPr id="126" name="TextBox 22"/>
            <p:cNvSpPr/>
            <p:nvPr/>
          </p:nvSpPr>
          <p:spPr>
            <a:xfrm>
              <a:off x="12148560" y="4644000"/>
              <a:ext cx="3959640" cy="2751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r>
                <a:rPr lang="en-US" sz="2400" b="0" u="none" strike="noStrik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Notificações via aplicativo garantem que a população receba </a:t>
              </a:r>
              <a:r>
                <a:rPr lang="en-US" sz="2400" b="1" u="none" strike="noStrike">
                  <a:solidFill>
                    <a:srgbClr val="C8E6C9"/>
                  </a:solidFill>
                  <a:effectLst/>
                  <a:uFillTx/>
                  <a:latin typeface="Codec Pro Bold"/>
                  <a:ea typeface="Codec Pro Bold"/>
                </a:rPr>
                <a:t>alertas em tempo real</a:t>
              </a:r>
              <a:r>
                <a:rPr lang="en-US" sz="2400" b="0" u="none" strike="noStrike">
                  <a:solidFill>
                    <a:srgbClr val="C8E6C9"/>
                  </a:solidFill>
                  <a:effectLst/>
                  <a:uFillTx/>
                  <a:latin typeface="Codec Pro"/>
                  <a:ea typeface="Codec Pro"/>
                </a:rPr>
                <a:t>, permitindo uma resposta rápida e eficaz a situações de emergência.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TextBox 23"/>
            <p:cNvSpPr/>
            <p:nvPr/>
          </p:nvSpPr>
          <p:spPr>
            <a:xfrm>
              <a:off x="12148560" y="4198320"/>
              <a:ext cx="3959640" cy="41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r>
                <a:rPr lang="en-US" sz="2400" b="1" u="none" strike="noStrike">
                  <a:solidFill>
                    <a:srgbClr val="C8E6C9"/>
                  </a:solidFill>
                  <a:effectLst/>
                  <a:uFillTx/>
                  <a:latin typeface="Codec Pro Ultra-Bold"/>
                  <a:ea typeface="Codec Pro Ultra-Bold"/>
                </a:rPr>
                <a:t>Alerta à População</a:t>
              </a:r>
              <a:endPara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2"/>
          <p:cNvGrpSpPr/>
          <p:nvPr/>
        </p:nvGrpSpPr>
        <p:grpSpPr>
          <a:xfrm>
            <a:off x="666720" y="666720"/>
            <a:ext cx="16953120" cy="8952120"/>
            <a:chOff x="666720" y="666720"/>
            <a:chExt cx="16953120" cy="8952120"/>
          </a:xfrm>
        </p:grpSpPr>
        <p:sp>
          <p:nvSpPr>
            <p:cNvPr id="129" name="Freeform 3"/>
            <p:cNvSpPr/>
            <p:nvPr/>
          </p:nvSpPr>
          <p:spPr>
            <a:xfrm>
              <a:off x="70416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Freeform 4"/>
            <p:cNvSpPr/>
            <p:nvPr/>
          </p:nvSpPr>
          <p:spPr>
            <a:xfrm>
              <a:off x="66672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1" name="AutoShape 5"/>
          <p:cNvSpPr/>
          <p:nvPr/>
        </p:nvSpPr>
        <p:spPr>
          <a:xfrm>
            <a:off x="2436480" y="5162400"/>
            <a:ext cx="15028200" cy="360"/>
          </a:xfrm>
          <a:prstGeom prst="line">
            <a:avLst/>
          </a:prstGeom>
          <a:ln w="38100">
            <a:solidFill>
              <a:srgbClr val="C8E6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32" name="Group 6"/>
          <p:cNvGrpSpPr/>
          <p:nvPr/>
        </p:nvGrpSpPr>
        <p:grpSpPr>
          <a:xfrm>
            <a:off x="2111760" y="5000040"/>
            <a:ext cx="323280" cy="323280"/>
            <a:chOff x="2111760" y="5000040"/>
            <a:chExt cx="323280" cy="323280"/>
          </a:xfrm>
        </p:grpSpPr>
        <p:sp>
          <p:nvSpPr>
            <p:cNvPr id="133" name="Freeform 7"/>
            <p:cNvSpPr/>
            <p:nvPr/>
          </p:nvSpPr>
          <p:spPr>
            <a:xfrm>
              <a:off x="2111760" y="5000040"/>
              <a:ext cx="323280" cy="323280"/>
            </a:xfrm>
            <a:custGeom>
              <a:avLst/>
              <a:gdLst>
                <a:gd name="textAreaLeft" fmla="*/ 0 w 323280"/>
                <a:gd name="textAreaRight" fmla="*/ 324720 w 323280"/>
                <a:gd name="textAreaTop" fmla="*/ 0 h 323280"/>
                <a:gd name="textAreaBottom" fmla="*/ 324720 h 32328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D40"/>
            </a:solidFill>
            <a:ln w="38100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TextBox 8"/>
            <p:cNvSpPr/>
            <p:nvPr/>
          </p:nvSpPr>
          <p:spPr>
            <a:xfrm>
              <a:off x="2142360" y="5004000"/>
              <a:ext cx="262440" cy="28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35" name="Group 9"/>
          <p:cNvGrpSpPr/>
          <p:nvPr/>
        </p:nvGrpSpPr>
        <p:grpSpPr>
          <a:xfrm>
            <a:off x="7141320" y="5000040"/>
            <a:ext cx="323280" cy="323280"/>
            <a:chOff x="7141320" y="5000040"/>
            <a:chExt cx="323280" cy="323280"/>
          </a:xfrm>
        </p:grpSpPr>
        <p:sp>
          <p:nvSpPr>
            <p:cNvPr id="136" name="Freeform 10"/>
            <p:cNvSpPr/>
            <p:nvPr/>
          </p:nvSpPr>
          <p:spPr>
            <a:xfrm>
              <a:off x="7141320" y="5000040"/>
              <a:ext cx="323280" cy="323280"/>
            </a:xfrm>
            <a:custGeom>
              <a:avLst/>
              <a:gdLst>
                <a:gd name="textAreaLeft" fmla="*/ 0 w 323280"/>
                <a:gd name="textAreaRight" fmla="*/ 324720 w 323280"/>
                <a:gd name="textAreaTop" fmla="*/ 0 h 323280"/>
                <a:gd name="textAreaBottom" fmla="*/ 324720 h 32328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D40"/>
            </a:solidFill>
            <a:ln w="38100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TextBox 11"/>
            <p:cNvSpPr/>
            <p:nvPr/>
          </p:nvSpPr>
          <p:spPr>
            <a:xfrm>
              <a:off x="7171920" y="5004000"/>
              <a:ext cx="262440" cy="28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38" name="Group 12"/>
          <p:cNvGrpSpPr/>
          <p:nvPr/>
        </p:nvGrpSpPr>
        <p:grpSpPr>
          <a:xfrm>
            <a:off x="12176640" y="5000040"/>
            <a:ext cx="323280" cy="323280"/>
            <a:chOff x="12176640" y="5000040"/>
            <a:chExt cx="323280" cy="323280"/>
          </a:xfrm>
        </p:grpSpPr>
        <p:sp>
          <p:nvSpPr>
            <p:cNvPr id="139" name="Freeform 13"/>
            <p:cNvSpPr/>
            <p:nvPr/>
          </p:nvSpPr>
          <p:spPr>
            <a:xfrm>
              <a:off x="12176640" y="5000040"/>
              <a:ext cx="323280" cy="323280"/>
            </a:xfrm>
            <a:custGeom>
              <a:avLst/>
              <a:gdLst>
                <a:gd name="textAreaLeft" fmla="*/ 0 w 323280"/>
                <a:gd name="textAreaRight" fmla="*/ 324720 w 323280"/>
                <a:gd name="textAreaTop" fmla="*/ 0 h 323280"/>
                <a:gd name="textAreaBottom" fmla="*/ 324720 h 32328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D40"/>
            </a:solidFill>
            <a:ln w="38100" cap="sq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TextBox 14"/>
            <p:cNvSpPr/>
            <p:nvPr/>
          </p:nvSpPr>
          <p:spPr>
            <a:xfrm>
              <a:off x="12207240" y="5004000"/>
              <a:ext cx="262440" cy="28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41" name="TextBox 15"/>
          <p:cNvSpPr/>
          <p:nvPr/>
        </p:nvSpPr>
        <p:spPr>
          <a:xfrm>
            <a:off x="2104920" y="1504800"/>
            <a:ext cx="14076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480"/>
              </a:lnSpc>
              <a:tabLst>
                <a:tab pos="0" algn="l"/>
              </a:tabLst>
            </a:pPr>
            <a:r>
              <a:rPr lang="en-US" sz="5400" b="1" u="none" strike="noStrike" spc="-136">
                <a:solidFill>
                  <a:srgbClr val="C8E6C9"/>
                </a:solidFill>
                <a:effectLst/>
                <a:uFillTx/>
                <a:latin typeface="Gatwick Ultra-Bold"/>
                <a:ea typeface="Gatwick Ultra-Bold"/>
              </a:rPr>
              <a:t>Plano de Implementação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6"/>
          <p:cNvSpPr/>
          <p:nvPr/>
        </p:nvSpPr>
        <p:spPr>
          <a:xfrm>
            <a:off x="2104920" y="5972040"/>
            <a:ext cx="4008600" cy="79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21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Testes de sensores em áreas críticas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7"/>
          <p:cNvSpPr/>
          <p:nvPr/>
        </p:nvSpPr>
        <p:spPr>
          <a:xfrm>
            <a:off x="7136640" y="5972040"/>
            <a:ext cx="4013280" cy="79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21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Plataforma unificada para integração de dados 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8"/>
          <p:cNvSpPr/>
          <p:nvPr/>
        </p:nvSpPr>
        <p:spPr>
          <a:xfrm>
            <a:off x="12176640" y="5972040"/>
            <a:ext cx="4008600" cy="79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21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C8E6C9"/>
                </a:solidFill>
                <a:effectLst/>
                <a:uFillTx/>
                <a:latin typeface="Codec Pro"/>
                <a:ea typeface="Codec Pro"/>
              </a:rPr>
              <a:t>Ampliação da rede para toda a cidade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9"/>
          <p:cNvSpPr/>
          <p:nvPr/>
        </p:nvSpPr>
        <p:spPr>
          <a:xfrm>
            <a:off x="2104920" y="4172040"/>
            <a:ext cx="4008600" cy="39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21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C8E6C9"/>
                </a:solidFill>
                <a:effectLst/>
                <a:uFillTx/>
                <a:latin typeface="Codec Pro Ultra-Bold"/>
                <a:ea typeface="Codec Pro Ultra-Bold"/>
              </a:rPr>
              <a:t>Fase 1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0"/>
          <p:cNvSpPr/>
          <p:nvPr/>
        </p:nvSpPr>
        <p:spPr>
          <a:xfrm>
            <a:off x="7141320" y="4172040"/>
            <a:ext cx="4008600" cy="39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21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C8E6C9"/>
                </a:solidFill>
                <a:effectLst/>
                <a:uFillTx/>
                <a:latin typeface="Codec Pro Ultra-Bold"/>
                <a:ea typeface="Codec Pro Ultra-Bold"/>
              </a:rPr>
              <a:t>Fase 2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1"/>
          <p:cNvSpPr/>
          <p:nvPr/>
        </p:nvSpPr>
        <p:spPr>
          <a:xfrm>
            <a:off x="12173040" y="4220640"/>
            <a:ext cx="4012560" cy="39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21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C8E6C9"/>
                </a:solidFill>
                <a:effectLst/>
                <a:uFillTx/>
                <a:latin typeface="Codec Pro Ultra-Bold"/>
                <a:ea typeface="Codec Pro Ultra-Bold"/>
              </a:rPr>
              <a:t>Fase 3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2"/>
          <p:cNvGrpSpPr/>
          <p:nvPr/>
        </p:nvGrpSpPr>
        <p:grpSpPr>
          <a:xfrm>
            <a:off x="666720" y="666720"/>
            <a:ext cx="16953120" cy="8952120"/>
            <a:chOff x="666720" y="666720"/>
            <a:chExt cx="16953120" cy="8952120"/>
          </a:xfrm>
        </p:grpSpPr>
        <p:sp>
          <p:nvSpPr>
            <p:cNvPr id="149" name="Freeform 3"/>
            <p:cNvSpPr/>
            <p:nvPr/>
          </p:nvSpPr>
          <p:spPr>
            <a:xfrm>
              <a:off x="70416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Freeform 4"/>
            <p:cNvSpPr/>
            <p:nvPr/>
          </p:nvSpPr>
          <p:spPr>
            <a:xfrm>
              <a:off x="66672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1" name="Group 5"/>
          <p:cNvGrpSpPr/>
          <p:nvPr/>
        </p:nvGrpSpPr>
        <p:grpSpPr>
          <a:xfrm>
            <a:off x="1800360" y="3511440"/>
            <a:ext cx="4716000" cy="5212080"/>
            <a:chOff x="1800360" y="3511440"/>
            <a:chExt cx="4716000" cy="5212080"/>
          </a:xfrm>
        </p:grpSpPr>
        <p:sp>
          <p:nvSpPr>
            <p:cNvPr id="152" name="Freeform 6"/>
            <p:cNvSpPr/>
            <p:nvPr/>
          </p:nvSpPr>
          <p:spPr>
            <a:xfrm>
              <a:off x="1800360" y="3764520"/>
              <a:ext cx="4716000" cy="4959000"/>
            </a:xfrm>
            <a:custGeom>
              <a:avLst/>
              <a:gdLst>
                <a:gd name="textAreaLeft" fmla="*/ 0 w 4716000"/>
                <a:gd name="textAreaRight" fmla="*/ 4717440 w 4716000"/>
                <a:gd name="textAreaTop" fmla="*/ 0 h 4959000"/>
                <a:gd name="textAreaBottom" fmla="*/ 4960440 h 4959000"/>
              </a:gdLst>
              <a:ahLst/>
              <a:cxnLst/>
              <a:rect l="textAreaLeft" t="textAreaTop" r="textAreaRight" b="textAreaBottom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noFill/>
            <a:ln w="38100" cap="rnd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TextBox 7"/>
            <p:cNvSpPr/>
            <p:nvPr/>
          </p:nvSpPr>
          <p:spPr>
            <a:xfrm>
              <a:off x="1800360" y="3511440"/>
              <a:ext cx="4716000" cy="521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7080" tIns="127080" rIns="127080" bIns="127080" anchor="ctr">
              <a:no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54" name="Group 8"/>
          <p:cNvGrpSpPr/>
          <p:nvPr/>
        </p:nvGrpSpPr>
        <p:grpSpPr>
          <a:xfrm>
            <a:off x="6785280" y="3511440"/>
            <a:ext cx="4716000" cy="5212080"/>
            <a:chOff x="6785280" y="3511440"/>
            <a:chExt cx="4716000" cy="5212080"/>
          </a:xfrm>
        </p:grpSpPr>
        <p:sp>
          <p:nvSpPr>
            <p:cNvPr id="155" name="Freeform 9"/>
            <p:cNvSpPr/>
            <p:nvPr/>
          </p:nvSpPr>
          <p:spPr>
            <a:xfrm>
              <a:off x="6785280" y="3764520"/>
              <a:ext cx="4716000" cy="4959000"/>
            </a:xfrm>
            <a:custGeom>
              <a:avLst/>
              <a:gdLst>
                <a:gd name="textAreaLeft" fmla="*/ 0 w 4716000"/>
                <a:gd name="textAreaRight" fmla="*/ 4717440 w 4716000"/>
                <a:gd name="textAreaTop" fmla="*/ 0 h 4959000"/>
                <a:gd name="textAreaBottom" fmla="*/ 4960440 h 4959000"/>
              </a:gdLst>
              <a:ahLst/>
              <a:cxnLst/>
              <a:rect l="textAreaLeft" t="textAreaTop" r="textAreaRight" b="textAreaBottom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noFill/>
            <a:ln w="38100" cap="rnd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TextBox 10"/>
            <p:cNvSpPr/>
            <p:nvPr/>
          </p:nvSpPr>
          <p:spPr>
            <a:xfrm>
              <a:off x="6785280" y="3511440"/>
              <a:ext cx="4716000" cy="521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7080" tIns="127080" rIns="127080" bIns="127080" anchor="ctr">
              <a:no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57" name="Group 11"/>
          <p:cNvGrpSpPr/>
          <p:nvPr/>
        </p:nvGrpSpPr>
        <p:grpSpPr>
          <a:xfrm>
            <a:off x="11770200" y="3511440"/>
            <a:ext cx="4716000" cy="5212080"/>
            <a:chOff x="11770200" y="3511440"/>
            <a:chExt cx="4716000" cy="5212080"/>
          </a:xfrm>
        </p:grpSpPr>
        <p:sp>
          <p:nvSpPr>
            <p:cNvPr id="158" name="Freeform 12"/>
            <p:cNvSpPr/>
            <p:nvPr/>
          </p:nvSpPr>
          <p:spPr>
            <a:xfrm>
              <a:off x="11770200" y="3764520"/>
              <a:ext cx="4716000" cy="4959000"/>
            </a:xfrm>
            <a:custGeom>
              <a:avLst/>
              <a:gdLst>
                <a:gd name="textAreaLeft" fmla="*/ 0 w 4716000"/>
                <a:gd name="textAreaRight" fmla="*/ 4717440 w 4716000"/>
                <a:gd name="textAreaTop" fmla="*/ 0 h 4959000"/>
                <a:gd name="textAreaBottom" fmla="*/ 4960440 h 4959000"/>
              </a:gdLst>
              <a:ahLst/>
              <a:cxnLst/>
              <a:rect l="textAreaLeft" t="textAreaTop" r="textAreaRight" b="textAreaBottom"/>
              <a:pathLst>
                <a:path w="1242476" h="1306456">
                  <a:moveTo>
                    <a:pt x="82055" y="0"/>
                  </a:moveTo>
                  <a:lnTo>
                    <a:pt x="1160421" y="0"/>
                  </a:lnTo>
                  <a:cubicBezTo>
                    <a:pt x="1182183" y="0"/>
                    <a:pt x="1203054" y="8645"/>
                    <a:pt x="1218442" y="24033"/>
                  </a:cubicBezTo>
                  <a:cubicBezTo>
                    <a:pt x="1233831" y="39422"/>
                    <a:pt x="1242476" y="60293"/>
                    <a:pt x="1242476" y="82055"/>
                  </a:cubicBezTo>
                  <a:lnTo>
                    <a:pt x="1242476" y="1224401"/>
                  </a:lnTo>
                  <a:cubicBezTo>
                    <a:pt x="1242476" y="1246164"/>
                    <a:pt x="1233831" y="1267035"/>
                    <a:pt x="1218442" y="1282423"/>
                  </a:cubicBezTo>
                  <a:cubicBezTo>
                    <a:pt x="1203054" y="1297811"/>
                    <a:pt x="1182183" y="1306456"/>
                    <a:pt x="1160421" y="1306456"/>
                  </a:cubicBezTo>
                  <a:lnTo>
                    <a:pt x="82055" y="1306456"/>
                  </a:lnTo>
                  <a:cubicBezTo>
                    <a:pt x="60293" y="1306456"/>
                    <a:pt x="39422" y="1297811"/>
                    <a:pt x="24033" y="1282423"/>
                  </a:cubicBezTo>
                  <a:cubicBezTo>
                    <a:pt x="8645" y="1267035"/>
                    <a:pt x="0" y="1246164"/>
                    <a:pt x="0" y="1224401"/>
                  </a:cubicBezTo>
                  <a:lnTo>
                    <a:pt x="0" y="82055"/>
                  </a:lnTo>
                  <a:cubicBezTo>
                    <a:pt x="0" y="60293"/>
                    <a:pt x="8645" y="39422"/>
                    <a:pt x="24033" y="24033"/>
                  </a:cubicBezTo>
                  <a:cubicBezTo>
                    <a:pt x="39422" y="8645"/>
                    <a:pt x="60293" y="0"/>
                    <a:pt x="82055" y="0"/>
                  </a:cubicBezTo>
                  <a:close/>
                </a:path>
              </a:pathLst>
            </a:custGeom>
            <a:noFill/>
            <a:ln w="38100" cap="rnd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TextBox 13"/>
            <p:cNvSpPr/>
            <p:nvPr/>
          </p:nvSpPr>
          <p:spPr>
            <a:xfrm>
              <a:off x="11770200" y="3511440"/>
              <a:ext cx="4716000" cy="5212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7080" tIns="127080" rIns="127080" bIns="127080" anchor="ctr">
              <a:no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60" name="TextBox 14"/>
          <p:cNvSpPr/>
          <p:nvPr/>
        </p:nvSpPr>
        <p:spPr>
          <a:xfrm>
            <a:off x="2104920" y="1504800"/>
            <a:ext cx="14076360" cy="82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480"/>
              </a:lnSpc>
              <a:tabLst>
                <a:tab pos="0" algn="l"/>
              </a:tabLst>
            </a:pPr>
            <a:r>
              <a:rPr lang="en-US" sz="5400" b="1" u="none" strike="noStrike" spc="-136">
                <a:solidFill>
                  <a:srgbClr val="00796B"/>
                </a:solidFill>
                <a:effectLst/>
                <a:uFillTx/>
                <a:latin typeface="Gatwick Ultra-Bold"/>
                <a:ea typeface="Gatwick Ultra-Bold"/>
              </a:rPr>
              <a:t>Benefícios do Pluvius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5"/>
          <p:cNvSpPr/>
          <p:nvPr/>
        </p:nvSpPr>
        <p:spPr>
          <a:xfrm>
            <a:off x="2202840" y="4631040"/>
            <a:ext cx="4008600" cy="31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spAutoFit/>
          </a:bodyPr>
          <a:lstStyle/>
          <a:p>
            <a:pPr algn="ctr" defTabSz="914400">
              <a:lnSpc>
                <a:spcPts val="3121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796B"/>
                </a:solidFill>
                <a:effectLst/>
                <a:uFillTx/>
                <a:latin typeface="Codec Pro"/>
                <a:ea typeface="Codec Pro"/>
              </a:rPr>
              <a:t>A </a:t>
            </a:r>
            <a:r>
              <a:rPr lang="en-US" sz="2400" b="1" u="none" strike="noStrike">
                <a:solidFill>
                  <a:srgbClr val="00796B"/>
                </a:solidFill>
                <a:effectLst/>
                <a:uFillTx/>
                <a:latin typeface="Codec Pro Bold"/>
                <a:ea typeface="Codec Pro Bold"/>
              </a:rPr>
              <a:t>prevenção de enchentes</a:t>
            </a:r>
            <a:r>
              <a:rPr lang="en-US" sz="2400" b="0" u="none" strike="noStrike">
                <a:solidFill>
                  <a:srgbClr val="00796B"/>
                </a:solidFill>
                <a:effectLst/>
                <a:uFillTx/>
                <a:latin typeface="Codec Pro"/>
                <a:ea typeface="Codec Pro"/>
              </a:rPr>
              <a:t> é alcançada através de um sistema de alerta antecipado, permitindo que a população se prepare para chuvas intensas e minimize os danos.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6"/>
          <p:cNvSpPr/>
          <p:nvPr/>
        </p:nvSpPr>
        <p:spPr>
          <a:xfrm>
            <a:off x="7187760" y="4631040"/>
            <a:ext cx="4008600" cy="315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121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796B"/>
                </a:solidFill>
                <a:effectLst/>
                <a:uFillTx/>
                <a:latin typeface="Codec Pro"/>
                <a:ea typeface="Codec Pro"/>
              </a:rPr>
              <a:t>A segurança da população é fundamental; com evacuação eficiente em áreas de risco, o AlertaSP garante que as pessoas possam deixar locais perigosos antes que a situação se agrave.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7"/>
          <p:cNvSpPr/>
          <p:nvPr/>
        </p:nvSpPr>
        <p:spPr>
          <a:xfrm>
            <a:off x="12173040" y="4631040"/>
            <a:ext cx="4008600" cy="315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121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796B"/>
                </a:solidFill>
                <a:effectLst/>
                <a:uFillTx/>
                <a:latin typeface="Codec Pro"/>
                <a:ea typeface="Codec Pro"/>
              </a:rPr>
              <a:t>A </a:t>
            </a:r>
            <a:r>
              <a:rPr lang="en-US" sz="2400" b="1" u="none" strike="noStrike">
                <a:solidFill>
                  <a:srgbClr val="00796B"/>
                </a:solidFill>
                <a:effectLst/>
                <a:uFillTx/>
                <a:latin typeface="Codec Pro Bold"/>
                <a:ea typeface="Codec Pro Bold"/>
              </a:rPr>
              <a:t>redução de danos</a:t>
            </a:r>
            <a:r>
              <a:rPr lang="en-US" sz="2400" b="0" u="none" strike="noStrike">
                <a:solidFill>
                  <a:srgbClr val="00796B"/>
                </a:solidFill>
                <a:effectLst/>
                <a:uFillTx/>
                <a:latin typeface="Codec Pro"/>
                <a:ea typeface="Codec Pro"/>
              </a:rPr>
              <a:t> é promovida pelo monitoramento constante, que protege bens materiais e infraestruturas, assegurando uma resposta rápida em casos de emergência climática.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roup 2"/>
          <p:cNvGrpSpPr/>
          <p:nvPr/>
        </p:nvGrpSpPr>
        <p:grpSpPr>
          <a:xfrm>
            <a:off x="766440" y="666720"/>
            <a:ext cx="16953120" cy="8952120"/>
            <a:chOff x="766440" y="666720"/>
            <a:chExt cx="16953120" cy="8952120"/>
          </a:xfrm>
        </p:grpSpPr>
        <p:sp>
          <p:nvSpPr>
            <p:cNvPr id="165" name="Freeform 3"/>
            <p:cNvSpPr/>
            <p:nvPr/>
          </p:nvSpPr>
          <p:spPr>
            <a:xfrm>
              <a:off x="804240" y="704160"/>
              <a:ext cx="16761600" cy="8749440"/>
            </a:xfrm>
            <a:custGeom>
              <a:avLst/>
              <a:gdLst>
                <a:gd name="textAreaLeft" fmla="*/ 0 w 16761600"/>
                <a:gd name="textAreaRight" fmla="*/ 16763040 w 16761600"/>
                <a:gd name="textAreaTop" fmla="*/ 0 h 8749440"/>
                <a:gd name="textAreaBottom" fmla="*/ 8750880 h 8749440"/>
              </a:gdLst>
              <a:ahLst/>
              <a:cxnLst/>
              <a:rect l="textAreaLeft" t="textAreaTop" r="textAreaRight" b="textAreaBottom"/>
              <a:pathLst>
                <a:path w="5669329" h="2959540">
                  <a:moveTo>
                    <a:pt x="146050" y="2959540"/>
                  </a:moveTo>
                  <a:lnTo>
                    <a:pt x="5523279" y="2959540"/>
                  </a:lnTo>
                  <a:cubicBezTo>
                    <a:pt x="5603289" y="2959540"/>
                    <a:pt x="5669329" y="2893500"/>
                    <a:pt x="5669329" y="2813490"/>
                  </a:cubicBezTo>
                  <a:lnTo>
                    <a:pt x="5669329" y="146050"/>
                  </a:lnTo>
                  <a:cubicBezTo>
                    <a:pt x="5669329" y="66040"/>
                    <a:pt x="5603289" y="0"/>
                    <a:pt x="5523279" y="0"/>
                  </a:cubicBezTo>
                  <a:lnTo>
                    <a:pt x="146050" y="0"/>
                  </a:lnTo>
                  <a:cubicBezTo>
                    <a:pt x="66040" y="0"/>
                    <a:pt x="0" y="66040"/>
                    <a:pt x="0" y="146050"/>
                  </a:cubicBezTo>
                  <a:lnTo>
                    <a:pt x="0" y="2813490"/>
                  </a:lnTo>
                  <a:cubicBezTo>
                    <a:pt x="0" y="2894770"/>
                    <a:pt x="66040" y="2959540"/>
                    <a:pt x="146050" y="2959540"/>
                  </a:cubicBezTo>
                  <a:close/>
                </a:path>
              </a:pathLst>
            </a:custGeom>
            <a:solidFill>
              <a:srgbClr val="C8E6C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Freeform 4"/>
            <p:cNvSpPr/>
            <p:nvPr/>
          </p:nvSpPr>
          <p:spPr>
            <a:xfrm>
              <a:off x="766440" y="666720"/>
              <a:ext cx="16953120" cy="8952120"/>
            </a:xfrm>
            <a:custGeom>
              <a:avLst/>
              <a:gdLst>
                <a:gd name="textAreaLeft" fmla="*/ 0 w 16953120"/>
                <a:gd name="textAreaRight" fmla="*/ 16954560 w 16953120"/>
                <a:gd name="textAreaTop" fmla="*/ 0 h 8952120"/>
                <a:gd name="textAreaBottom" fmla="*/ 8953560 h 8952120"/>
              </a:gdLst>
              <a:ahLst/>
              <a:cxnLst/>
              <a:rect l="textAreaLeft" t="textAreaTop" r="textAreaRight" b="textAreaBottom"/>
              <a:pathLst>
                <a:path w="5734099" h="3028120">
                  <a:moveTo>
                    <a:pt x="5670599" y="74930"/>
                  </a:moveTo>
                  <a:cubicBezTo>
                    <a:pt x="5642659" y="30480"/>
                    <a:pt x="5593129" y="0"/>
                    <a:pt x="5535979" y="0"/>
                  </a:cubicBezTo>
                  <a:lnTo>
                    <a:pt x="158750" y="0"/>
                  </a:lnTo>
                  <a:cubicBezTo>
                    <a:pt x="71120" y="0"/>
                    <a:pt x="0" y="71120"/>
                    <a:pt x="0" y="158750"/>
                  </a:cubicBezTo>
                  <a:lnTo>
                    <a:pt x="0" y="2826190"/>
                  </a:lnTo>
                  <a:cubicBezTo>
                    <a:pt x="0" y="2878260"/>
                    <a:pt x="25400" y="2923980"/>
                    <a:pt x="63500" y="2953190"/>
                  </a:cubicBezTo>
                  <a:cubicBezTo>
                    <a:pt x="91440" y="2997640"/>
                    <a:pt x="140970" y="3028120"/>
                    <a:pt x="216920" y="3028120"/>
                  </a:cubicBezTo>
                  <a:lnTo>
                    <a:pt x="5575349" y="3028120"/>
                  </a:lnTo>
                  <a:cubicBezTo>
                    <a:pt x="5662979" y="3028120"/>
                    <a:pt x="5734099" y="2957000"/>
                    <a:pt x="5734099" y="2869370"/>
                  </a:cubicBezTo>
                  <a:lnTo>
                    <a:pt x="5734099" y="208926"/>
                  </a:lnTo>
                  <a:cubicBezTo>
                    <a:pt x="5734099" y="149860"/>
                    <a:pt x="5708699" y="104140"/>
                    <a:pt x="5670599" y="74930"/>
                  </a:cubicBezTo>
                  <a:close/>
                  <a:moveTo>
                    <a:pt x="12700" y="2826190"/>
                  </a:moveTo>
                  <a:lnTo>
                    <a:pt x="12700" y="158750"/>
                  </a:lnTo>
                  <a:cubicBezTo>
                    <a:pt x="12700" y="78740"/>
                    <a:pt x="78740" y="12700"/>
                    <a:pt x="158750" y="12700"/>
                  </a:cubicBezTo>
                  <a:lnTo>
                    <a:pt x="5535979" y="12700"/>
                  </a:lnTo>
                  <a:cubicBezTo>
                    <a:pt x="5615989" y="12700"/>
                    <a:pt x="5682029" y="78740"/>
                    <a:pt x="5682029" y="158750"/>
                  </a:cubicBezTo>
                  <a:lnTo>
                    <a:pt x="5682029" y="2826190"/>
                  </a:lnTo>
                  <a:cubicBezTo>
                    <a:pt x="5682029" y="2906200"/>
                    <a:pt x="5615989" y="2972240"/>
                    <a:pt x="5535979" y="2972240"/>
                  </a:cubicBezTo>
                  <a:lnTo>
                    <a:pt x="158750" y="2972240"/>
                  </a:lnTo>
                  <a:cubicBezTo>
                    <a:pt x="78740" y="2972240"/>
                    <a:pt x="12700" y="2907470"/>
                    <a:pt x="12700" y="2826190"/>
                  </a:cubicBezTo>
                  <a:close/>
                </a:path>
              </a:pathLst>
            </a:custGeom>
            <a:solidFill>
              <a:srgbClr val="00796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7" name="TextBox 5"/>
          <p:cNvSpPr/>
          <p:nvPr/>
        </p:nvSpPr>
        <p:spPr>
          <a:xfrm>
            <a:off x="666720" y="4676760"/>
            <a:ext cx="6768720" cy="87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480"/>
              </a:lnSpc>
              <a:tabLst>
                <a:tab pos="0" algn="l"/>
              </a:tabLst>
            </a:pPr>
            <a:r>
              <a:rPr lang="en-US" sz="5400" b="1" u="none" strike="noStrike" spc="-136">
                <a:solidFill>
                  <a:srgbClr val="00796B"/>
                </a:solidFill>
                <a:effectLst/>
                <a:uFillTx/>
                <a:latin typeface="Gatwick Ultra-Bold"/>
                <a:ea typeface="Gatwick Ultra-Bold"/>
              </a:rPr>
              <a:t>Conclusão</a:t>
            </a:r>
            <a:endParaRPr lang="pt-B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8" name="Group 6"/>
          <p:cNvGrpSpPr/>
          <p:nvPr/>
        </p:nvGrpSpPr>
        <p:grpSpPr>
          <a:xfrm>
            <a:off x="7436880" y="1308960"/>
            <a:ext cx="9049680" cy="7414560"/>
            <a:chOff x="7436880" y="1308960"/>
            <a:chExt cx="9049680" cy="7414560"/>
          </a:xfrm>
        </p:grpSpPr>
        <p:sp>
          <p:nvSpPr>
            <p:cNvPr id="169" name="Freeform 7"/>
            <p:cNvSpPr/>
            <p:nvPr/>
          </p:nvSpPr>
          <p:spPr>
            <a:xfrm>
              <a:off x="7436880" y="1562040"/>
              <a:ext cx="9049680" cy="7161480"/>
            </a:xfrm>
            <a:custGeom>
              <a:avLst/>
              <a:gdLst>
                <a:gd name="textAreaLeft" fmla="*/ 0 w 9049680"/>
                <a:gd name="textAreaRight" fmla="*/ 9051120 w 9049680"/>
                <a:gd name="textAreaTop" fmla="*/ 0 h 7161480"/>
                <a:gd name="textAreaBottom" fmla="*/ 7162920 h 7161480"/>
              </a:gdLst>
              <a:ahLst/>
              <a:cxnLst/>
              <a:rect l="textAreaLeft" t="textAreaTop" r="textAreaRight" b="textAreaBottom"/>
              <a:pathLst>
                <a:path w="2383806" h="1886499">
                  <a:moveTo>
                    <a:pt x="42768" y="0"/>
                  </a:moveTo>
                  <a:lnTo>
                    <a:pt x="2341038" y="0"/>
                  </a:lnTo>
                  <a:cubicBezTo>
                    <a:pt x="2364658" y="0"/>
                    <a:pt x="2383806" y="19148"/>
                    <a:pt x="2383806" y="42768"/>
                  </a:cubicBezTo>
                  <a:lnTo>
                    <a:pt x="2383806" y="1843730"/>
                  </a:lnTo>
                  <a:cubicBezTo>
                    <a:pt x="2383806" y="1867351"/>
                    <a:pt x="2364658" y="1886499"/>
                    <a:pt x="2341038" y="1886499"/>
                  </a:cubicBezTo>
                  <a:lnTo>
                    <a:pt x="42768" y="1886499"/>
                  </a:lnTo>
                  <a:cubicBezTo>
                    <a:pt x="19148" y="1886499"/>
                    <a:pt x="0" y="1867351"/>
                    <a:pt x="0" y="1843730"/>
                  </a:cubicBezTo>
                  <a:lnTo>
                    <a:pt x="0" y="42768"/>
                  </a:lnTo>
                  <a:cubicBezTo>
                    <a:pt x="0" y="19148"/>
                    <a:pt x="19148" y="0"/>
                    <a:pt x="42768" y="0"/>
                  </a:cubicBezTo>
                  <a:close/>
                </a:path>
              </a:pathLst>
            </a:custGeom>
            <a:noFill/>
            <a:ln w="38100" cap="rnd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TextBox 8"/>
            <p:cNvSpPr/>
            <p:nvPr/>
          </p:nvSpPr>
          <p:spPr>
            <a:xfrm>
              <a:off x="7436880" y="1308960"/>
              <a:ext cx="9049680" cy="741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27080" tIns="127080" rIns="127080" bIns="127080" anchor="ctr">
              <a:noAutofit/>
            </a:bodyPr>
            <a:lstStyle/>
            <a:p>
              <a:pPr algn="ctr" defTabSz="914400">
                <a:lnSpc>
                  <a:spcPts val="3121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71" name="TextBox 9"/>
          <p:cNvSpPr/>
          <p:nvPr/>
        </p:nvSpPr>
        <p:spPr>
          <a:xfrm>
            <a:off x="7659720" y="2928600"/>
            <a:ext cx="8289000" cy="47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86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O Projeto Pluvius oferece uma solução inovadora, alinhada aos princípios de Cidades Inteligentes, para reduzir os efeitos das enchentes em São Paulo. A integração entre sensores IoT, análise de dados e sistemas de alerta mostra-se viável e relevante para o cenário brasileiro. 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Experiências internacionais comprovam a eficácia desse tipo de tecnologia e reforçam seu potencial de adaptação para a realidade paulistana. 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86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dec Pro"/>
                <a:ea typeface="Codec Pro"/>
              </a:rPr>
              <a:t>	A implementação do Pluvius resultaria em maior precisão no monitoramento, decisões antecipadas e diminuição dos impactos causados por eventos hidrológicos, promovendo mais segurança e uma administração urbana mais eficiente.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0</Words>
  <Application>Microsoft Office PowerPoint</Application>
  <PresentationFormat>Personalizar</PresentationFormat>
  <Paragraphs>0</Paragraphs>
  <Slides>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A3:Pluvius</dc:title>
  <dc:subject/>
  <dc:creator/>
  <dc:description/>
  <cp:lastModifiedBy>Renan Regis</cp:lastModifiedBy>
  <cp:revision>8</cp:revision>
  <dcterms:created xsi:type="dcterms:W3CDTF">2006-08-16T00:00:00Z</dcterms:created>
  <dcterms:modified xsi:type="dcterms:W3CDTF">2025-11-26T02:13:23Z</dcterms:modified>
  <dc:identifier>DAG5vub0i_Q</dc:identifier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